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324B7-548F-48F9-B71E-09D5D9EBAA49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776DA-9DF4-4A8E-95AD-065F57807F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242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E776DA-9DF4-4A8E-95AD-065F57807F9B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31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1853" y="1447013"/>
            <a:ext cx="9813302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5F7FA"/>
                </a:solidFill>
              </a:defRPr>
            </a:pPr>
            <a:r>
              <a:rPr sz="4400" dirty="0"/>
              <a:t>Exploratory Data Analysis of</a:t>
            </a:r>
            <a:br>
              <a:rPr sz="4400" dirty="0"/>
            </a:br>
            <a:r>
              <a:rPr sz="4400" dirty="0"/>
              <a:t>Large-Scale Retail Transaction Data</a:t>
            </a:r>
          </a:p>
          <a:p>
            <a:pPr algn="ctr">
              <a:defRPr sz="1700">
                <a:solidFill>
                  <a:srgbClr val="69AAFF"/>
                </a:solidFill>
              </a:defRPr>
            </a:pPr>
            <a:r>
              <a:rPr sz="2000" dirty="0"/>
              <a:t>Univariate • Bivariate • Multivariate • Time-Based Analysis</a:t>
            </a:r>
          </a:p>
          <a:p>
            <a:pPr algn="ctr">
              <a:defRPr sz="1300">
                <a:solidFill>
                  <a:srgbClr val="BEC8D7"/>
                </a:solidFill>
              </a:defRPr>
            </a:pPr>
            <a:r>
              <a:rPr sz="1600" dirty="0"/>
              <a:t>Python | Pandas | NumPy | Matplotlib | Seaborn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7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19661"/>
            <a:ext cx="300146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rPr dirty="0">
                <a:solidFill>
                  <a:srgbClr val="7030A0"/>
                </a:solidFill>
              </a:rP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9219"/>
            <a:ext cx="10515600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F5F7FA"/>
                </a:solidFill>
              </a:defRPr>
            </a:pPr>
            <a:r>
              <a:rPr sz="2400" dirty="0"/>
              <a:t>Objective: understand patterns, distributions, relationships, outliers and trends in retail transactions.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F5F7FA"/>
                </a:solidFill>
              </a:defRPr>
            </a:pPr>
            <a:r>
              <a:rPr sz="2400" dirty="0"/>
              <a:t>EDA performed before predictive modelling and business decision-making.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F5F7FA"/>
                </a:solidFill>
              </a:defRPr>
            </a:pPr>
            <a:r>
              <a:rPr sz="2400" dirty="0"/>
              <a:t>Analysis covers numerical, categorical, correlation, multivariate and time-based dimensions.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F5F7FA"/>
                </a:solidFill>
              </a:defRPr>
            </a:pPr>
            <a:r>
              <a:rPr sz="2400" dirty="0"/>
              <a:t>Transaction value is represented by </a:t>
            </a:r>
            <a:r>
              <a:rPr sz="2400" dirty="0" err="1"/>
              <a:t>final_price</a:t>
            </a:r>
            <a:r>
              <a:rPr sz="24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320040"/>
            <a:ext cx="308969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rPr dirty="0">
                <a:solidFill>
                  <a:srgbClr val="7030A0"/>
                </a:solidFill>
              </a:rPr>
              <a:t>2.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295856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100">
                <a:solidFill>
                  <a:srgbClr val="BEC8D7"/>
                </a:solidFill>
              </a:defRPr>
            </a:pPr>
            <a:r>
              <a:rPr sz="1400" dirty="0"/>
              <a:t>Uploaded retail_large_dataset.csv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106" y="1360688"/>
            <a:ext cx="2377440" cy="1143000"/>
          </a:xfrm>
          <a:prstGeom prst="roundRect">
            <a:avLst/>
          </a:prstGeom>
          <a:solidFill>
            <a:srgbClr val="1F2B3F"/>
          </a:solidFill>
          <a:ln>
            <a:solidFill>
              <a:srgbClr val="3C5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69AAFF"/>
                </a:solidFill>
              </a:defRPr>
            </a:pPr>
            <a:r>
              <a:t>100,000</a:t>
            </a:r>
          </a:p>
          <a:p>
            <a:pPr algn="ctr">
              <a:defRPr sz="1000">
                <a:solidFill>
                  <a:srgbClr val="BEC8D7"/>
                </a:solidFill>
              </a:defRPr>
            </a:pPr>
            <a:r>
              <a:t>Rows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325880"/>
            <a:ext cx="2377440" cy="1143000"/>
          </a:xfrm>
          <a:prstGeom prst="roundRect">
            <a:avLst/>
          </a:prstGeom>
          <a:solidFill>
            <a:srgbClr val="1F2B3F"/>
          </a:solidFill>
          <a:ln>
            <a:solidFill>
              <a:srgbClr val="3C5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69AAFF"/>
                </a:solidFill>
              </a:defRPr>
            </a:pPr>
            <a:r>
              <a:rPr lang="en-IN" dirty="0"/>
              <a:t>18</a:t>
            </a:r>
            <a:endParaRPr dirty="0"/>
          </a:p>
          <a:p>
            <a:pPr algn="ctr">
              <a:defRPr sz="1000">
                <a:solidFill>
                  <a:srgbClr val="BEC8D7"/>
                </a:solidFill>
              </a:defRPr>
            </a:pPr>
            <a:r>
              <a:rPr dirty="0"/>
              <a:t>Columns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25880"/>
            <a:ext cx="2377440" cy="1143000"/>
          </a:xfrm>
          <a:prstGeom prst="roundRect">
            <a:avLst/>
          </a:prstGeom>
          <a:solidFill>
            <a:srgbClr val="1F2B3F"/>
          </a:solidFill>
          <a:ln>
            <a:solidFill>
              <a:srgbClr val="3C5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69AAFF"/>
                </a:solidFill>
              </a:defRPr>
            </a:pPr>
            <a:r>
              <a:t>0</a:t>
            </a:r>
          </a:p>
          <a:p>
            <a:pPr algn="ctr">
              <a:defRPr sz="1000">
                <a:solidFill>
                  <a:srgbClr val="BEC8D7"/>
                </a:solidFill>
              </a:defRPr>
            </a:pPr>
            <a:r>
              <a:t>Missing Values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325880"/>
            <a:ext cx="2377440" cy="1143000"/>
          </a:xfrm>
          <a:prstGeom prst="roundRect">
            <a:avLst/>
          </a:prstGeom>
          <a:solidFill>
            <a:srgbClr val="1F2B3F"/>
          </a:solidFill>
          <a:ln>
            <a:solidFill>
              <a:srgbClr val="3C5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69AAFF"/>
                </a:solidFill>
              </a:defRPr>
            </a:pPr>
            <a:r>
              <a:t>0</a:t>
            </a:r>
          </a:p>
          <a:p>
            <a:pPr algn="ctr">
              <a:defRPr sz="1000">
                <a:solidFill>
                  <a:srgbClr val="BEC8D7"/>
                </a:solidFill>
              </a:defRPr>
            </a:pPr>
            <a:r>
              <a:t>Duplicate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585" y="3063240"/>
            <a:ext cx="1122883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dirty="0"/>
              <a:t>Date range: 01-Jan-2023 to 30-Dec-2025.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dirty="0"/>
              <a:t>Numerical variables include age, </a:t>
            </a:r>
            <a:r>
              <a:rPr dirty="0" err="1"/>
              <a:t>product_price</a:t>
            </a:r>
            <a:r>
              <a:rPr dirty="0"/>
              <a:t>, quantity, </a:t>
            </a:r>
            <a:r>
              <a:rPr dirty="0" err="1"/>
              <a:t>discount_percentage</a:t>
            </a:r>
            <a:r>
              <a:rPr dirty="0"/>
              <a:t>, </a:t>
            </a:r>
            <a:r>
              <a:rPr dirty="0" err="1"/>
              <a:t>final_price</a:t>
            </a:r>
            <a:r>
              <a:rPr dirty="0"/>
              <a:t> and </a:t>
            </a:r>
            <a:r>
              <a:rPr dirty="0" err="1"/>
              <a:t>delivery_days</a:t>
            </a:r>
            <a:r>
              <a:rPr dirty="0"/>
              <a:t>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dirty="0"/>
              <a:t>Categorical variables include gender, location, customer segment, product category, payment method, shipping type and return status.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dirty="0" err="1"/>
              <a:t>order_date</a:t>
            </a:r>
            <a:r>
              <a:rPr dirty="0"/>
              <a:t> supports monthly, quarterly, yearly and day-of-week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3278" y="573955"/>
            <a:ext cx="546290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rPr dirty="0">
                <a:solidFill>
                  <a:srgbClr val="7030A0"/>
                </a:solidFill>
              </a:rPr>
              <a:t>3. Data Preparation &amp; EDA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3278" y="1864622"/>
            <a:ext cx="10424160" cy="3082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F5F7FA"/>
                </a:solidFill>
              </a:defRPr>
            </a:pPr>
            <a:r>
              <a:rPr dirty="0"/>
              <a:t>Loaded the CSV using Pandas.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F5F7FA"/>
                </a:solidFill>
              </a:defRPr>
            </a:pPr>
            <a:r>
              <a:rPr dirty="0"/>
              <a:t>C</a:t>
            </a:r>
            <a:r>
              <a:rPr lang="en-IN" dirty="0" err="1"/>
              <a:t>hecked</a:t>
            </a:r>
            <a:r>
              <a:rPr lang="en-IN" dirty="0"/>
              <a:t> how many Rows and Columns</a:t>
            </a:r>
            <a:r>
              <a:rPr dirty="0"/>
              <a:t>.</a:t>
            </a:r>
            <a:endParaRPr lang="en-IN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F5F7FA"/>
                </a:solidFill>
              </a:defRPr>
            </a:pPr>
            <a:r>
              <a:rPr lang="en-IN" dirty="0"/>
              <a:t>Checked datatype, checked numerical and Categorical columns.</a:t>
            </a:r>
            <a:endParaRPr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F5F7FA"/>
                </a:solidFill>
              </a:defRPr>
            </a:pPr>
            <a:r>
              <a:rPr dirty="0"/>
              <a:t>Checked missing values and duplicate records.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F5F7FA"/>
                </a:solidFill>
              </a:defRPr>
            </a:pPr>
            <a:r>
              <a:rPr dirty="0"/>
              <a:t>Created derived time variables: Year, Month, Quarter, Week and </a:t>
            </a:r>
            <a:r>
              <a:rPr dirty="0" err="1"/>
              <a:t>Day_Name</a:t>
            </a:r>
            <a:r>
              <a:rPr dirty="0"/>
              <a:t>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F5F7FA"/>
                </a:solidFill>
              </a:defRPr>
            </a:pPr>
            <a:r>
              <a:rPr dirty="0"/>
              <a:t>Encoded </a:t>
            </a:r>
            <a:r>
              <a:rPr dirty="0" err="1"/>
              <a:t>return_status</a:t>
            </a:r>
            <a:r>
              <a:rPr dirty="0"/>
              <a:t> as a binary return flag for return-rate analysis.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F5F7FA"/>
                </a:solidFill>
              </a:defRPr>
            </a:pPr>
            <a:r>
              <a:rPr dirty="0"/>
              <a:t>Applied descriptive statistics, visualizations and correlation analysis.</a:t>
            </a:r>
            <a:endParaRPr lang="en-IN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F5F7FA"/>
                </a:solidFill>
              </a:defRPr>
            </a:pPr>
            <a:r>
              <a:rPr lang="en-IN" dirty="0"/>
              <a:t>Using different </a:t>
            </a:r>
            <a:r>
              <a:rPr lang="en-IN" dirty="0" err="1"/>
              <a:t>different</a:t>
            </a:r>
            <a:r>
              <a:rPr lang="en-IN" dirty="0"/>
              <a:t>  Plot  for Numerical and </a:t>
            </a:r>
            <a:r>
              <a:rPr lang="en-IN" dirty="0" err="1"/>
              <a:t>Cateogrical</a:t>
            </a:r>
            <a:r>
              <a:rPr lang="en-IN" dirty="0"/>
              <a:t> Columns.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42372"/>
            <a:ext cx="483427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rPr dirty="0">
                <a:solidFill>
                  <a:srgbClr val="7030A0"/>
                </a:solidFill>
              </a:rPr>
              <a:t>4. Univariate Numerical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188720"/>
          <a:ext cx="113385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539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F7FA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F2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F7FA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1F2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F7FA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1F2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F7FA"/>
                          </a:solidFill>
                        </a:defRPr>
                      </a:pPr>
                      <a:r>
                        <a:t>Std Dev</a:t>
                      </a:r>
                    </a:p>
                  </a:txBody>
                  <a:tcPr>
                    <a:solidFill>
                      <a:srgbClr val="1F2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F7FA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1F2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F7FA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1F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41.56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42.00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13.85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18.00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65.00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product_price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30,164.53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30,148.00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17,139.68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500.00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59,998.00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quantity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2.50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3.00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1.12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4.00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discount_percentage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15.01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15.00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8.95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30.00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final_price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64,165.72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49,752.39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49,969.28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357.00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239,980.00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3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delivery_days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5.51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5.00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2.87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10.00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380033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rPr dirty="0">
                <a:solidFill>
                  <a:srgbClr val="7030A0"/>
                </a:solidFill>
              </a:rPr>
              <a:t>5. Final Price Distribution</a:t>
            </a:r>
          </a:p>
        </p:txBody>
      </p:sp>
      <p:pic>
        <p:nvPicPr>
          <p:cNvPr id="3" name="Picture 2" descr="final_pric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658368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0" y="1541282"/>
            <a:ext cx="393192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F5F7FA"/>
                </a:solidFill>
              </a:defRPr>
            </a:pPr>
            <a:r>
              <a:rPr dirty="0"/>
              <a:t>Mean </a:t>
            </a:r>
            <a:r>
              <a:rPr dirty="0" err="1"/>
              <a:t>final_price</a:t>
            </a:r>
            <a:r>
              <a:rPr dirty="0"/>
              <a:t>: ₹64,165.72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F5F7FA"/>
                </a:solidFill>
              </a:defRPr>
            </a:pPr>
            <a:r>
              <a:rPr dirty="0"/>
              <a:t>Median </a:t>
            </a:r>
            <a:r>
              <a:rPr dirty="0" err="1"/>
              <a:t>final_price</a:t>
            </a:r>
            <a:r>
              <a:rPr dirty="0"/>
              <a:t>: ₹49,752.39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F5F7FA"/>
                </a:solidFill>
              </a:defRPr>
            </a:pPr>
            <a:r>
              <a:rPr dirty="0"/>
              <a:t>Skewness: 0.9347 → right-skewed distribution.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F5F7FA"/>
                </a:solidFill>
              </a:defRPr>
            </a:pPr>
            <a:r>
              <a:rPr dirty="0"/>
              <a:t>The mean is higher than the median, consistent with higher-value transactions extending the right tail.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9120" y="573955"/>
            <a:ext cx="337881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rPr dirty="0">
                <a:solidFill>
                  <a:srgbClr val="7030A0"/>
                </a:solidFill>
              </a:rPr>
              <a:t>6. Categorical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1627632"/>
            <a:ext cx="1097280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sz="2000" dirty="0"/>
              <a:t>Categorical frequency distributions were examined to understand customer composition and transaction patterns.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sz="2000" dirty="0"/>
              <a:t>Overall return rate: 14.81%.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sz="2000" dirty="0"/>
              <a:t>Customer segments: New (33,488), Regular (33,361), Premium (33,151).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sz="2000" dirty="0"/>
              <a:t>Product category, payment method and return status were also </a:t>
            </a:r>
            <a:r>
              <a:rPr sz="2000" dirty="0" err="1"/>
              <a:t>analysed</a:t>
            </a:r>
            <a:r>
              <a:rPr sz="2000" dirty="0"/>
              <a:t> using frequency counts.</a:t>
            </a:r>
            <a:endParaRPr lang="en-IN" sz="2000" dirty="0"/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lang="en-IN" sz="2000" dirty="0"/>
              <a:t>Using many Plot to Describe Categorical Analysis.</a:t>
            </a:r>
            <a:endParaRPr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302018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rPr dirty="0">
                <a:solidFill>
                  <a:srgbClr val="7030A0"/>
                </a:solidFill>
              </a:rPr>
              <a:t>7. Outlier Detection</a:t>
            </a:r>
          </a:p>
        </p:txBody>
      </p:sp>
      <p:pic>
        <p:nvPicPr>
          <p:cNvPr id="3" name="Picture 2" descr="final_price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58368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52360" y="1325880"/>
            <a:ext cx="4023360" cy="211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400">
                <a:solidFill>
                  <a:srgbClr val="F5F7FA"/>
                </a:solidFill>
              </a:defRPr>
            </a:pPr>
            <a:r>
              <a:rPr dirty="0"/>
              <a:t>IQR outliers in </a:t>
            </a:r>
            <a:r>
              <a:rPr dirty="0" err="1"/>
              <a:t>final_price</a:t>
            </a:r>
            <a:r>
              <a:rPr dirty="0"/>
              <a:t>: 1,335 (1.33%).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400">
                <a:solidFill>
                  <a:srgbClr val="F5F7FA"/>
                </a:solidFill>
              </a:defRPr>
            </a:pPr>
            <a:r>
              <a:rPr dirty="0"/>
              <a:t>Z-score &gt; 3 observations: 503.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400">
                <a:solidFill>
                  <a:srgbClr val="F5F7FA"/>
                </a:solidFill>
              </a:defRPr>
            </a:pPr>
            <a:r>
              <a:rPr dirty="0"/>
              <a:t>Outliers should not automatically be removed.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400">
                <a:solidFill>
                  <a:srgbClr val="F5F7FA"/>
                </a:solidFill>
              </a:defRPr>
            </a:pPr>
            <a:r>
              <a:rPr dirty="0"/>
              <a:t>High-value transactions may represent genuine premium or bulk purchases.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400">
                <a:solidFill>
                  <a:srgbClr val="F5F7FA"/>
                </a:solidFill>
              </a:defRPr>
            </a:pPr>
            <a:r>
              <a:rPr dirty="0"/>
              <a:t>Potential data errors should be investigated separately.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7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708488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rPr dirty="0">
                <a:solidFill>
                  <a:srgbClr val="7030A0"/>
                </a:solidFill>
              </a:rPr>
              <a:t>8. Bivariate Analysis: Product Price vs Final Price</a:t>
            </a:r>
          </a:p>
        </p:txBody>
      </p:sp>
      <p:pic>
        <p:nvPicPr>
          <p:cNvPr id="3" name="Picture 2" descr="price_final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694944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8120" y="1371600"/>
            <a:ext cx="36576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F5F7FA"/>
                </a:solidFill>
              </a:defRPr>
            </a:pPr>
            <a:r>
              <a:rPr dirty="0"/>
              <a:t>Pearson correlation: 0.731.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F5F7FA"/>
                </a:solidFill>
              </a:defRPr>
            </a:pPr>
            <a:r>
              <a:rPr dirty="0"/>
              <a:t>Higher product prices are associated with higher transaction values.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F5F7FA"/>
                </a:solidFill>
              </a:defRPr>
            </a:pPr>
            <a:r>
              <a:rPr dirty="0"/>
              <a:t>Correlation measures association, not causation.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F5F7FA"/>
                </a:solidFill>
              </a:defRPr>
            </a:pPr>
            <a:r>
              <a:rPr dirty="0"/>
              <a:t>Quantity vs </a:t>
            </a:r>
            <a:r>
              <a:rPr dirty="0" err="1"/>
              <a:t>final_price</a:t>
            </a:r>
            <a:r>
              <a:rPr dirty="0"/>
              <a:t> correlation: 0.575.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7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31376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rPr dirty="0">
                <a:solidFill>
                  <a:srgbClr val="7030A0"/>
                </a:solidFill>
              </a:rPr>
              <a:t>9. Numerical vs Categorical Analysis</a:t>
            </a:r>
          </a:p>
        </p:txBody>
      </p:sp>
      <p:pic>
        <p:nvPicPr>
          <p:cNvPr id="3" name="Picture 2" descr="segment_a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5486400" cy="4846320"/>
          </a:xfrm>
          <a:prstGeom prst="rect">
            <a:avLst/>
          </a:prstGeom>
        </p:spPr>
      </p:pic>
      <p:pic>
        <p:nvPicPr>
          <p:cNvPr id="4" name="Picture 3" descr="category_re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88720"/>
            <a:ext cx="548640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7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478624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rPr dirty="0">
                <a:solidFill>
                  <a:srgbClr val="7030A0"/>
                </a:solidFill>
              </a:rPr>
              <a:t>10. Shipping &amp; Delivery Analysis</a:t>
            </a:r>
          </a:p>
        </p:txBody>
      </p:sp>
      <p:pic>
        <p:nvPicPr>
          <p:cNvPr id="3" name="Picture 2" descr="shipping_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57607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20840" y="1371600"/>
            <a:ext cx="457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F5F7FA"/>
                </a:solidFill>
              </a:defRPr>
            </a:pPr>
            <a:r>
              <a:rPr dirty="0"/>
              <a:t>Express average delivery: 5.50 days.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F5F7FA"/>
                </a:solidFill>
              </a:defRPr>
            </a:pPr>
            <a:r>
              <a:rPr dirty="0"/>
              <a:t>Standard average delivery: 5.51 days.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F5F7FA"/>
                </a:solidFill>
              </a:defRPr>
            </a:pPr>
            <a:r>
              <a:rPr dirty="0"/>
              <a:t>The two averages are nearly identical in this dataset.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F5F7FA"/>
                </a:solidFill>
              </a:defRPr>
            </a:pPr>
            <a:r>
              <a:rPr dirty="0"/>
              <a:t>Therefore, a strong delivery-time reduction from Express shipping is not supported by these averages.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7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335950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rPr dirty="0">
                <a:solidFill>
                  <a:srgbClr val="7030A0"/>
                </a:solidFill>
              </a:rPr>
              <a:t>11. Correlation Matrix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640080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234440"/>
            <a:ext cx="4389120" cy="189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400">
                <a:solidFill>
                  <a:srgbClr val="F5F7FA"/>
                </a:solidFill>
              </a:defRPr>
            </a:pPr>
            <a:r>
              <a:rPr dirty="0" err="1"/>
              <a:t>product_price</a:t>
            </a:r>
            <a:r>
              <a:rPr dirty="0"/>
              <a:t> ↔ </a:t>
            </a:r>
            <a:r>
              <a:rPr dirty="0" err="1"/>
              <a:t>final_price</a:t>
            </a:r>
            <a:r>
              <a:rPr dirty="0"/>
              <a:t>: 0.731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400">
                <a:solidFill>
                  <a:srgbClr val="F5F7FA"/>
                </a:solidFill>
              </a:defRPr>
            </a:pPr>
            <a:r>
              <a:rPr dirty="0"/>
              <a:t>quantity ↔ </a:t>
            </a:r>
            <a:r>
              <a:rPr dirty="0" err="1"/>
              <a:t>final_price</a:t>
            </a:r>
            <a:r>
              <a:rPr dirty="0"/>
              <a:t>: 0.575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400">
                <a:solidFill>
                  <a:srgbClr val="F5F7FA"/>
                </a:solidFill>
              </a:defRPr>
            </a:pPr>
            <a:r>
              <a:rPr dirty="0" err="1"/>
              <a:t>discount_percentage</a:t>
            </a:r>
            <a:r>
              <a:rPr dirty="0"/>
              <a:t> ↔ </a:t>
            </a:r>
            <a:r>
              <a:rPr dirty="0" err="1"/>
              <a:t>final_price</a:t>
            </a:r>
            <a:r>
              <a:rPr dirty="0"/>
              <a:t>: -0.137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400">
                <a:solidFill>
                  <a:srgbClr val="F5F7FA"/>
                </a:solidFill>
              </a:defRPr>
            </a:pPr>
            <a:r>
              <a:rPr dirty="0" err="1"/>
              <a:t>delivery_days</a:t>
            </a:r>
            <a:r>
              <a:rPr dirty="0"/>
              <a:t> ↔ </a:t>
            </a:r>
            <a:r>
              <a:rPr dirty="0" err="1"/>
              <a:t>final_price</a:t>
            </a:r>
            <a:r>
              <a:rPr dirty="0"/>
              <a:t>: 0.004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400">
                <a:solidFill>
                  <a:srgbClr val="F5F7FA"/>
                </a:solidFill>
              </a:defRPr>
            </a:pPr>
            <a:r>
              <a:rPr dirty="0"/>
              <a:t>The strongest observed linear relationships with </a:t>
            </a:r>
            <a:r>
              <a:rPr dirty="0" err="1"/>
              <a:t>final_price</a:t>
            </a:r>
            <a:r>
              <a:rPr dirty="0"/>
              <a:t> are </a:t>
            </a:r>
            <a:r>
              <a:rPr dirty="0" err="1"/>
              <a:t>product_price</a:t>
            </a:r>
            <a:r>
              <a:rPr dirty="0"/>
              <a:t> and quantity.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7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76138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rPr dirty="0">
                <a:solidFill>
                  <a:srgbClr val="7030A0"/>
                </a:solidFill>
              </a:rPr>
              <a:t>12. Skewness &amp; Kurtosis Interpretation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344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7FA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F2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7FA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2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7FA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F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</a:defRPr>
                      </a:pPr>
                      <a:r>
                        <a:t>product_price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</a:defRPr>
                      </a:pPr>
                      <a:r>
                        <a:t>0.0032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</a:defRPr>
                      </a:pPr>
                      <a:r>
                        <a:t>Approximately symmetric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</a:defRPr>
                      </a:pPr>
                      <a:r>
                        <a:rPr dirty="0" err="1"/>
                        <a:t>final_price</a:t>
                      </a:r>
                      <a:endParaRPr dirty="0"/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</a:defRPr>
                      </a:pPr>
                      <a:r>
                        <a:t>0.9347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</a:defRPr>
                      </a:pPr>
                      <a:r>
                        <a:t>Right-skewed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</a:defRPr>
                      </a:pPr>
                      <a:r>
                        <a:t>final_price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</a:defRPr>
                      </a:pPr>
                      <a:r>
                        <a:t>0.1690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</a:defRPr>
                      </a:pPr>
                      <a:r>
                        <a:rPr dirty="0"/>
                        <a:t>Not unusually high kurtosis</a:t>
                      </a:r>
                    </a:p>
                  </a:txBody>
                  <a:tcPr>
                    <a:solidFill>
                      <a:srgbClr val="26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3383280"/>
            <a:ext cx="1042416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F5F7FA"/>
                </a:solidFill>
              </a:defRPr>
            </a:pPr>
            <a:r>
              <a:rPr sz="2000" dirty="0" err="1"/>
              <a:t>final_price</a:t>
            </a:r>
            <a:r>
              <a:rPr sz="2000" dirty="0"/>
              <a:t> is the main variable showing meaningful positive skewness.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F5F7FA"/>
                </a:solidFill>
              </a:defRPr>
            </a:pPr>
            <a:r>
              <a:rPr sz="2000" dirty="0"/>
              <a:t>The right tail reflects a smaller number of higher-value transactions.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F5F7FA"/>
                </a:solidFill>
              </a:defRPr>
            </a:pPr>
            <a:r>
              <a:rPr sz="2000" dirty="0" err="1"/>
              <a:t>product_price</a:t>
            </a:r>
            <a:r>
              <a:rPr sz="2000" dirty="0"/>
              <a:t> has skewness close to zero.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F5F7FA"/>
                </a:solidFill>
              </a:defRPr>
            </a:pPr>
            <a:r>
              <a:rPr sz="2000" dirty="0"/>
              <a:t>The </a:t>
            </a:r>
            <a:r>
              <a:rPr sz="2000" dirty="0" err="1"/>
              <a:t>final_price</a:t>
            </a:r>
            <a:r>
              <a:rPr sz="2000" dirty="0"/>
              <a:t> kurtosis value does not support describing the distribution as highly heavy-tailed solely from kurtosis.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7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74904"/>
            <a:ext cx="364176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rPr dirty="0">
                <a:solidFill>
                  <a:srgbClr val="7030A0"/>
                </a:solidFill>
              </a:rPr>
              <a:t>13. Time-Based Analysis</a:t>
            </a:r>
          </a:p>
        </p:txBody>
      </p:sp>
      <p:pic>
        <p:nvPicPr>
          <p:cNvPr id="3" name="Picture 2" descr="year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12867"/>
            <a:ext cx="5394960" cy="4389120"/>
          </a:xfrm>
          <a:prstGeom prst="rect">
            <a:avLst/>
          </a:prstGeom>
        </p:spPr>
      </p:pic>
      <p:pic>
        <p:nvPicPr>
          <p:cNvPr id="4" name="Picture 3" descr="monthly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12867"/>
            <a:ext cx="557784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532120"/>
            <a:ext cx="1069848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  <a:defRPr sz="1100">
                <a:solidFill>
                  <a:srgbClr val="F5F7FA"/>
                </a:solidFill>
              </a:defRPr>
            </a:pPr>
            <a:r>
              <a:rPr dirty="0"/>
              <a:t>2023 sales: ₹2,140,485,043</a:t>
            </a:r>
          </a:p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  <a:defRPr sz="1100">
                <a:solidFill>
                  <a:srgbClr val="F5F7FA"/>
                </a:solidFill>
              </a:defRPr>
            </a:pPr>
            <a:r>
              <a:rPr dirty="0"/>
              <a:t>2024 sales: ₹2,155,130,180</a:t>
            </a:r>
          </a:p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  <a:defRPr sz="1100">
                <a:solidFill>
                  <a:srgbClr val="F5F7FA"/>
                </a:solidFill>
              </a:defRPr>
            </a:pPr>
            <a:r>
              <a:rPr dirty="0"/>
              <a:t>2025 sales: ₹2,120,957,115</a:t>
            </a:r>
          </a:p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  <a:defRPr sz="1100">
                <a:solidFill>
                  <a:srgbClr val="F5F7FA"/>
                </a:solidFill>
              </a:defRPr>
            </a:pPr>
            <a:r>
              <a:rPr dirty="0"/>
              <a:t>Highest-sales month: 2024-01.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7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499874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rPr dirty="0">
                <a:solidFill>
                  <a:srgbClr val="7030A0"/>
                </a:solidFill>
              </a:rPr>
              <a:t>14. Return &amp; Weekly Sales Trends</a:t>
            </a:r>
          </a:p>
        </p:txBody>
      </p:sp>
      <p:pic>
        <p:nvPicPr>
          <p:cNvPr id="3" name="Picture 2" descr="monthly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5577840" cy="4389120"/>
          </a:xfrm>
          <a:prstGeom prst="rect">
            <a:avLst/>
          </a:prstGeom>
        </p:spPr>
      </p:pic>
      <p:pic>
        <p:nvPicPr>
          <p:cNvPr id="4" name="Picture 3" descr="day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39496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5291" y="5660136"/>
            <a:ext cx="10241280" cy="856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  <a:defRPr sz="1100">
                <a:solidFill>
                  <a:srgbClr val="F5F7FA"/>
                </a:solidFill>
              </a:defRPr>
            </a:pPr>
            <a:r>
              <a:rPr dirty="0"/>
              <a:t>Overall return rate: 14.81%.</a:t>
            </a:r>
          </a:p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  <a:defRPr sz="1100">
                <a:solidFill>
                  <a:srgbClr val="F5F7FA"/>
                </a:solidFill>
              </a:defRPr>
            </a:pPr>
            <a:r>
              <a:rPr dirty="0"/>
              <a:t>Monthly return rates can be monitored for temporal variation.</a:t>
            </a:r>
          </a:p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  <a:defRPr sz="1100">
                <a:solidFill>
                  <a:srgbClr val="F5F7FA"/>
                </a:solidFill>
              </a:defRPr>
            </a:pPr>
            <a:r>
              <a:rPr dirty="0"/>
              <a:t>Day-of-week analysis provides an additional view of purchasing activity.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7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04882"/>
            <a:ext cx="445519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rPr dirty="0">
                <a:solidFill>
                  <a:srgbClr val="7030A0"/>
                </a:solidFill>
              </a:rPr>
              <a:t>15. Key Findings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§"/>
              <a:defRPr sz="1500">
                <a:solidFill>
                  <a:srgbClr val="F5F7FA"/>
                </a:solidFill>
              </a:defRPr>
            </a:pPr>
            <a:r>
              <a:rPr sz="2000" dirty="0"/>
              <a:t>The dataset contains 100,000 retail transactions across 18 variables with no missing or duplicate records.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§"/>
              <a:defRPr sz="1500">
                <a:solidFill>
                  <a:srgbClr val="F5F7FA"/>
                </a:solidFill>
              </a:defRPr>
            </a:pPr>
            <a:r>
              <a:rPr sz="2000" dirty="0" err="1"/>
              <a:t>final_price</a:t>
            </a:r>
            <a:r>
              <a:rPr sz="2000" dirty="0"/>
              <a:t> is right-skewed (skewness ≈ 0.9347), while </a:t>
            </a:r>
            <a:r>
              <a:rPr sz="2000" dirty="0" err="1"/>
              <a:t>product_price</a:t>
            </a:r>
            <a:r>
              <a:rPr sz="2000" dirty="0"/>
              <a:t> is approximately symmetric.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§"/>
              <a:defRPr sz="1500">
                <a:solidFill>
                  <a:srgbClr val="F5F7FA"/>
                </a:solidFill>
              </a:defRPr>
            </a:pPr>
            <a:r>
              <a:rPr sz="2000" dirty="0"/>
              <a:t>Product price and quantity show positive relationships with </a:t>
            </a:r>
            <a:r>
              <a:rPr sz="2000" dirty="0" err="1"/>
              <a:t>final_price</a:t>
            </a:r>
            <a:r>
              <a:rPr sz="2000" dirty="0"/>
              <a:t> (r = 0.731 and 0.575).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§"/>
              <a:defRPr sz="1500">
                <a:solidFill>
                  <a:srgbClr val="F5F7FA"/>
                </a:solidFill>
              </a:defRPr>
            </a:pPr>
            <a:r>
              <a:rPr sz="2000" dirty="0"/>
              <a:t>Overall return rate is 14.81%; category return rates are relatively close.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§"/>
              <a:defRPr sz="1500">
                <a:solidFill>
                  <a:srgbClr val="F5F7FA"/>
                </a:solidFill>
              </a:defRPr>
            </a:pPr>
            <a:r>
              <a:rPr sz="2000" dirty="0"/>
              <a:t>Time-based analysis reveals annual, monthly and weekly transaction patterns.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§"/>
              <a:defRPr sz="1500">
                <a:solidFill>
                  <a:srgbClr val="F5F7FA"/>
                </a:solidFill>
              </a:defRPr>
            </a:pPr>
            <a:r>
              <a:rPr sz="2000" dirty="0"/>
              <a:t>Outliers require investigation because unusual values may represent legitimate high-value transactions.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§"/>
              <a:defRPr sz="1500">
                <a:solidFill>
                  <a:srgbClr val="F5F7FA"/>
                </a:solidFill>
              </a:defRPr>
            </a:pPr>
            <a:r>
              <a:rPr sz="2000" dirty="0"/>
              <a:t>EDA provides a strong foundation for forecasting, customer segmentation and predictive modelling.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7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866</Words>
  <Application>Microsoft Office PowerPoint</Application>
  <PresentationFormat>Widescreen</PresentationFormat>
  <Paragraphs>159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rajat gupta</cp:lastModifiedBy>
  <cp:revision>8</cp:revision>
  <dcterms:created xsi:type="dcterms:W3CDTF">2013-01-27T09:14:16Z</dcterms:created>
  <dcterms:modified xsi:type="dcterms:W3CDTF">2026-09-26T07:54:10Z</dcterms:modified>
  <cp:category/>
</cp:coreProperties>
</file>